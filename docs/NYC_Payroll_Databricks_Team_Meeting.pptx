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9737"/>
            <a:ext cx="2545715" cy="22987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>
                <a:solidFill>
                  <a:srgbClr val="00B0F0"/>
                </a:solidFill>
                <a:latin typeface="Aptos"/>
                <a:sym typeface="+mn-ea"/>
              </a:rPr>
              <a:t>Prepared for </a:t>
            </a:r>
            <a:r>
              <a:rPr lang="en-US" sz="900">
                <a:solidFill>
                  <a:srgbClr val="00B0F0"/>
                </a:solidFill>
                <a:latin typeface="Aptos"/>
                <a:sym typeface="+mn-ea"/>
              </a:rPr>
              <a:t>T</a:t>
            </a:r>
            <a:r>
              <a:rPr sz="900">
                <a:solidFill>
                  <a:srgbClr val="00B0F0"/>
                </a:solidFill>
                <a:latin typeface="Aptos"/>
                <a:sym typeface="+mn-ea"/>
              </a:rPr>
              <a:t>eam </a:t>
            </a:r>
            <a:r>
              <a:rPr lang="en-US" sz="900">
                <a:solidFill>
                  <a:srgbClr val="00B0F0"/>
                </a:solidFill>
                <a:latin typeface="Aptos"/>
                <a:sym typeface="+mn-ea"/>
              </a:rPr>
              <a:t>W</a:t>
            </a:r>
            <a:r>
              <a:rPr sz="900">
                <a:solidFill>
                  <a:srgbClr val="00B0F0"/>
                </a:solidFill>
                <a:latin typeface="Aptos"/>
                <a:sym typeface="+mn-ea"/>
              </a:rPr>
              <a:t>alkthrough</a:t>
            </a:r>
            <a:r>
              <a:rPr lang="en-US" sz="900">
                <a:solidFill>
                  <a:srgbClr val="00B0F0"/>
                </a:solidFill>
                <a:latin typeface="Aptos"/>
                <a:sym typeface="+mn-ea"/>
              </a:rPr>
              <a:t> on Project</a:t>
            </a:r>
            <a:endParaRPr lang="en-US" sz="900" b="1">
              <a:solidFill>
                <a:srgbClr val="00B0F0"/>
              </a:solidFill>
              <a:latin typeface="Aptos"/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58368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F5F8FB"/>
                </a:solidFill>
                <a:latin typeface="Aptos"/>
              </a:rPr>
              <a:t>NYC Employee Payroll
Data Pipeline</a:t>
            </a:r>
            <a:endParaRPr sz="3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907792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AABCCD"/>
                </a:solidFill>
                <a:latin typeface="Aptos"/>
              </a:rPr>
              <a:t>End-to-end Databricks batch architecture</a:t>
            </a:r>
            <a:endParaRPr sz="18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3429000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F5F8FB"/>
                </a:solidFill>
                <a:latin typeface="Aptos"/>
              </a:rPr>
              <a:t>Reliable ingestion • Data quality • SCD Type 2 • Audit • Alerts • Archive • BI</a:t>
            </a:r>
            <a:endParaRPr sz="1200" b="0">
              <a:solidFill>
                <a:srgbClr val="F5F8FB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1920240" cy="914400"/>
          </a:xfrm>
          <a:prstGeom prst="round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2752" y="1545336"/>
            <a:ext cx="177393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CSV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02752" y="1874519"/>
            <a:ext cx="1773936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UC Volume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79" y="2743200"/>
            <a:ext cx="1920240" cy="914400"/>
          </a:xfrm>
          <a:prstGeom prst="round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2871216"/>
            <a:ext cx="177393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FW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71231" y="3200400"/>
            <a:ext cx="1773936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Framework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646920" y="2743200"/>
            <a:ext cx="1920240" cy="914400"/>
          </a:xfrm>
          <a:prstGeom prst="round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72" y="2871216"/>
            <a:ext cx="177393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PVT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20072" y="3200400"/>
            <a:ext cx="1773936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Validate + route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98079" y="4069080"/>
            <a:ext cx="1920240" cy="914400"/>
          </a:xfrm>
          <a:prstGeom prst="round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4197096"/>
            <a:ext cx="177393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SCD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71231" y="4526280"/>
            <a:ext cx="1773936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SCD Type 2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646920" y="4069080"/>
            <a:ext cx="1920240" cy="914400"/>
          </a:xfrm>
          <a:prstGeom prst="roundRect">
            <a:avLst/>
          </a:prstGeom>
          <a:solidFill>
            <a:srgbClr val="3F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72" y="4197096"/>
            <a:ext cx="177393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ARCHIVE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20072" y="4526280"/>
            <a:ext cx="1773936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Processed file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 flipH="1">
            <a:off x="8458200" y="2331720"/>
            <a:ext cx="731520" cy="411480"/>
          </a:xfrm>
          <a:prstGeom prst="line">
            <a:avLst/>
          </a:prstGeom>
          <a:ln w="25400">
            <a:solidFill>
              <a:srgbClr val="37A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18320" y="3200400"/>
            <a:ext cx="228600" cy="0"/>
          </a:xfrm>
          <a:prstGeom prst="line">
            <a:avLst/>
          </a:prstGeom>
          <a:ln w="25400">
            <a:solidFill>
              <a:srgbClr val="17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58200" y="3657600"/>
            <a:ext cx="0" cy="411480"/>
          </a:xfrm>
          <a:prstGeom prst="line">
            <a:avLst/>
          </a:prstGeom>
          <a:ln w="25400">
            <a:solidFill>
              <a:srgbClr val="17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7040" y="3657600"/>
            <a:ext cx="0" cy="411480"/>
          </a:xfrm>
          <a:prstGeom prst="line">
            <a:avLst/>
          </a:prstGeom>
          <a:ln w="25400">
            <a:solidFill>
              <a:srgbClr val="17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ABCCD"/>
                </a:solidFill>
                <a:latin typeface="Aptos"/>
              </a:rPr>
              <a:t>NYC Employee Payroll • Databricks</a:t>
            </a:r>
            <a:endParaRPr sz="8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ABCCD"/>
                </a:solidFill>
                <a:latin typeface="Aptos"/>
              </a:rPr>
              <a:t>01</a:t>
            </a:r>
            <a:endParaRPr sz="800" b="1">
              <a:solidFill>
                <a:srgbClr val="AABC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B"/>
                </a:solidFill>
                <a:latin typeface="Aptos"/>
              </a:rPr>
              <a:t>Why this pipeline?</a:t>
            </a:r>
            <a:endParaRPr sz="27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10424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CCD"/>
                </a:solidFill>
                <a:latin typeface="Aptos"/>
              </a:rPr>
              <a:t>Business need, engineering challenge and target outcome.</a:t>
            </a:r>
            <a:endParaRPr sz="11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9319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37A4EB"/>
                </a:solidFill>
                <a:latin typeface="Aptos"/>
              </a:rPr>
              <a:t>02</a:t>
            </a:r>
            <a:endParaRPr sz="900" b="1">
              <a:solidFill>
                <a:srgbClr val="37A4E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822960" cy="4572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192024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45720" cy="1920240"/>
          </a:xfrm>
          <a:prstGeom prst="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36776"/>
            <a:ext cx="3154679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Business context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2400364"/>
            <a:ext cx="3218180" cy="57594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NYC payroll supports workforce analytics, 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transparency, budget planning and compliance.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Batches can contain 500K+ records.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74720" cy="192024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45720" cy="1920240"/>
          </a:xfrm>
          <a:prstGeom prst="rect">
            <a:avLst/>
          </a:prstGeom>
          <a:solidFill>
            <a:srgbClr val="F58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636776"/>
            <a:ext cx="3154679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Engineering challenge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5424" y="2400364"/>
            <a:ext cx="2748280" cy="57594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Validate raw files, isolate bad records, 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preserve history, create audit evidence 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and serve trusted data.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01583" y="1508760"/>
            <a:ext cx="3474720" cy="192024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508760"/>
            <a:ext cx="45720" cy="192024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636776"/>
            <a:ext cx="3154679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Target outcome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66175" y="2481326"/>
            <a:ext cx="3041650" cy="414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A Git-backed Databricks workflow that is 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automated, traceable, resilient and BI-ready.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379476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8FB"/>
                </a:solidFill>
                <a:latin typeface="Aptos"/>
              </a:rPr>
              <a:t>Pipeline objectives</a:t>
            </a:r>
            <a:endParaRPr sz="18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6675120" cy="1691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F5F8FB"/>
                </a:solidFill>
                <a:latin typeface="Aptos"/>
              </a:rPr>
              <a:t>• Ingest raw payroll CSV from Unity Catalog Volume
• Validate schema, nulls and business rules
• Route clean vs. quarantined records
• Track history with SCD Type 2
• Alert on rejection threshold breach
• Archive processed files
• Refresh SQL views and log every step</a:t>
            </a:r>
            <a:endParaRPr sz="1200" b="0">
              <a:solidFill>
                <a:srgbClr val="F5F8FB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26679" y="3886200"/>
            <a:ext cx="3749039" cy="182880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3886200"/>
            <a:ext cx="45720" cy="182880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4014215"/>
            <a:ext cx="3428999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Design principles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4651438"/>
            <a:ext cx="2970530" cy="73723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171450" indent="-171450" algn="l">
              <a:buFont typeface="Wingdings" panose="05000000000000000000" charset="0"/>
              <a:buChar char=""/>
            </a:pPr>
            <a:r>
              <a:rPr sz="1050" b="0">
                <a:solidFill>
                  <a:srgbClr val="AABCCD"/>
                </a:solidFill>
                <a:latin typeface="Aptos"/>
              </a:rPr>
              <a:t>Medallion-lite: Raw → Staging → Curated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marL="171450" indent="-171450" algn="l">
              <a:buFont typeface="Wingdings" panose="05000000000000000000" charset="0"/>
              <a:buChar char=""/>
            </a:pPr>
            <a:r>
              <a:rPr sz="1050" b="0">
                <a:solidFill>
                  <a:srgbClr val="AABCCD"/>
                </a:solidFill>
                <a:latin typeface="Aptos"/>
              </a:rPr>
              <a:t>Idempotent batch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marL="171450" indent="-171450" algn="l">
              <a:buFont typeface="Wingdings" panose="05000000000000000000" charset="0"/>
              <a:buChar char=""/>
            </a:pPr>
            <a:r>
              <a:rPr sz="1050" b="0">
                <a:solidFill>
                  <a:srgbClr val="AABCCD"/>
                </a:solidFill>
                <a:latin typeface="Aptos"/>
              </a:rPr>
              <a:t>Fail-fast with audit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marL="171450" indent="-171450" algn="l">
              <a:buFont typeface="Wingdings" panose="05000000000000000000" charset="0"/>
              <a:buChar char=""/>
            </a:pPr>
            <a:r>
              <a:rPr sz="1050" b="0">
                <a:solidFill>
                  <a:srgbClr val="AABCCD"/>
                </a:solidFill>
                <a:latin typeface="Aptos"/>
              </a:rPr>
              <a:t>Git-backed source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ABCCD"/>
                </a:solidFill>
                <a:latin typeface="Aptos"/>
              </a:rPr>
              <a:t>NYC Employee Payroll • Databricks</a:t>
            </a:r>
            <a:endParaRPr sz="8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ABCCD"/>
                </a:solidFill>
                <a:latin typeface="Aptos"/>
              </a:rPr>
              <a:t>02</a:t>
            </a:r>
            <a:endParaRPr sz="800" b="1">
              <a:solidFill>
                <a:srgbClr val="AABC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B"/>
                </a:solidFill>
                <a:latin typeface="Aptos"/>
              </a:rPr>
              <a:t>End-to-end architecture</a:t>
            </a:r>
            <a:endParaRPr sz="27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10424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CCD"/>
                </a:solidFill>
                <a:latin typeface="Aptos"/>
              </a:rPr>
              <a:t>Updated dependency flow for the team walkthrough.</a:t>
            </a:r>
            <a:endParaRPr sz="11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9319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37A4EB"/>
                </a:solidFill>
                <a:latin typeface="Aptos"/>
              </a:rPr>
              <a:t>03</a:t>
            </a:r>
            <a:endParaRPr sz="900" b="1">
              <a:solidFill>
                <a:srgbClr val="37A4E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822960" cy="4572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554480" cy="868680"/>
          </a:xfrm>
          <a:prstGeom prst="round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459736"/>
            <a:ext cx="140817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CRON TRIGGER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1" y="2788920"/>
            <a:ext cx="140817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Daily 6:56 PM IST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14600" y="2331720"/>
            <a:ext cx="1600200" cy="868680"/>
          </a:xfrm>
          <a:prstGeom prst="round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2459736"/>
            <a:ext cx="14538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FW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87752" y="2788920"/>
            <a:ext cx="145389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Run context + control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840" y="2331720"/>
            <a:ext cx="1737360" cy="868680"/>
          </a:xfrm>
          <a:prstGeom prst="round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459736"/>
            <a:ext cx="159105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PVT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07992" y="2788920"/>
            <a:ext cx="159105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Validate + route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37960" y="2331720"/>
            <a:ext cx="1737360" cy="868680"/>
          </a:xfrm>
          <a:prstGeom prst="round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459736"/>
            <a:ext cx="159105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SCD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11112" y="2788920"/>
            <a:ext cx="159105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SCD2 MERGE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41080" y="2331720"/>
            <a:ext cx="1737360" cy="868680"/>
          </a:xfrm>
          <a:prstGeom prst="roundRect">
            <a:avLst/>
          </a:prstGeom>
          <a:solidFill>
            <a:srgbClr val="3F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2459736"/>
            <a:ext cx="159105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ARCHIVE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2788920"/>
            <a:ext cx="159105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Timestamped CSV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652760" y="2331720"/>
            <a:ext cx="914400" cy="868680"/>
          </a:xfrm>
          <a:prstGeom prst="roundRect">
            <a:avLst/>
          </a:prstGeom>
          <a:solidFill>
            <a:srgbClr val="F58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25912" y="2459736"/>
            <a:ext cx="7680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EMAIL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25912" y="2788920"/>
            <a:ext cx="76809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Success / failure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2194560" y="2761488"/>
            <a:ext cx="320040" cy="0"/>
          </a:xfrm>
          <a:prstGeom prst="line">
            <a:avLst/>
          </a:prstGeom>
          <a:ln w="25400">
            <a:solidFill>
              <a:srgbClr val="37A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14800" y="2761488"/>
            <a:ext cx="320040" cy="0"/>
          </a:xfrm>
          <a:prstGeom prst="line">
            <a:avLst/>
          </a:prstGeom>
          <a:ln w="25400">
            <a:solidFill>
              <a:srgbClr val="17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72200" y="2761488"/>
            <a:ext cx="365760" cy="0"/>
          </a:xfrm>
          <a:prstGeom prst="line">
            <a:avLst/>
          </a:prstGeom>
          <a:ln w="25400">
            <a:solidFill>
              <a:srgbClr val="17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75320" y="2761488"/>
            <a:ext cx="365760" cy="0"/>
          </a:xfrm>
          <a:prstGeom prst="line">
            <a:avLst/>
          </a:prstGeom>
          <a:ln w="25400">
            <a:solidFill>
              <a:srgbClr val="17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78440" y="2761488"/>
            <a:ext cx="274320" cy="0"/>
          </a:xfrm>
          <a:prstGeom prst="line">
            <a:avLst/>
          </a:prstGeom>
          <a:ln w="25400">
            <a:solidFill>
              <a:srgbClr val="F58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34840" y="4114800"/>
            <a:ext cx="1737360" cy="822960"/>
          </a:xfrm>
          <a:prstGeom prst="roundRect">
            <a:avLst/>
          </a:prstGeom>
          <a:solidFill>
            <a:srgbClr val="F58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4242816"/>
            <a:ext cx="159105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REJ_ALERTS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07992" y="4572000"/>
            <a:ext cx="159105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PVT rejection threshold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303520" y="3200400"/>
            <a:ext cx="0" cy="914400"/>
          </a:xfrm>
          <a:prstGeom prst="line">
            <a:avLst/>
          </a:prstGeom>
          <a:ln w="25400">
            <a:solidFill>
              <a:srgbClr val="F58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37960" y="4114800"/>
            <a:ext cx="1737360" cy="822960"/>
          </a:xfrm>
          <a:prstGeom prst="round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4242816"/>
            <a:ext cx="159105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VIEW REFRESH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11112" y="4572000"/>
            <a:ext cx="159105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SCD → BI views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406640" y="3200400"/>
            <a:ext cx="0" cy="914400"/>
          </a:xfrm>
          <a:prstGeom prst="line">
            <a:avLst/>
          </a:prstGeom>
          <a:ln w="25400">
            <a:solidFill>
              <a:srgbClr val="37A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34640" y="530352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AABCCD"/>
                </a:solidFill>
                <a:latin typeface="Aptos"/>
              </a:rPr>
              <a:t>REJ_ALERTS is driven from PVT • View Refresh is driven from SCD • Email follows Archive</a:t>
            </a:r>
            <a:endParaRPr sz="1100" b="1">
              <a:solidFill>
                <a:srgbClr val="AABCCD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0080" y="4709160"/>
            <a:ext cx="2377440" cy="82296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709160"/>
            <a:ext cx="45720" cy="822960"/>
          </a:xfrm>
          <a:prstGeom prst="rect">
            <a:avLst/>
          </a:prstGeom>
          <a:solidFill>
            <a:srgbClr val="69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" y="4837176"/>
            <a:ext cx="20574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GitHub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4671" y="5239512"/>
            <a:ext cx="2057400" cy="20116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Notebooks + SQL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ABCCD"/>
                </a:solidFill>
                <a:latin typeface="Aptos"/>
              </a:rPr>
              <a:t>NYC Employee Payroll • Databricks</a:t>
            </a:r>
            <a:endParaRPr sz="8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ABCCD"/>
                </a:solidFill>
                <a:latin typeface="Aptos"/>
              </a:rPr>
              <a:t>03</a:t>
            </a:r>
            <a:endParaRPr sz="800" b="1">
              <a:solidFill>
                <a:srgbClr val="AABC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B"/>
                </a:solidFill>
                <a:latin typeface="Aptos"/>
              </a:rPr>
              <a:t>Pipeline stages</a:t>
            </a:r>
            <a:endParaRPr sz="27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10424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CCD"/>
                </a:solidFill>
                <a:latin typeface="Aptos"/>
              </a:rPr>
              <a:t>Each task has one clear responsibility and hand-off.</a:t>
            </a:r>
            <a:endParaRPr sz="11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9319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37A4EB"/>
                </a:solidFill>
                <a:latin typeface="Aptos"/>
              </a:rPr>
              <a:t>04</a:t>
            </a:r>
            <a:endParaRPr sz="900" b="1">
              <a:solidFill>
                <a:srgbClr val="37A4E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822960" cy="4572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1965960" cy="205740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45720" cy="205740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73936"/>
            <a:ext cx="1645919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FW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176272"/>
            <a:ext cx="1645919" cy="1435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Framework
Run ID + control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670048"/>
            <a:ext cx="320040" cy="0"/>
          </a:xfrm>
          <a:prstGeom prst="line">
            <a:avLst/>
          </a:prstGeom>
          <a:ln w="25400">
            <a:solidFill>
              <a:srgbClr val="697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79" y="1645920"/>
            <a:ext cx="1965960" cy="205740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79" y="1645920"/>
            <a:ext cx="45720" cy="2057400"/>
          </a:xfrm>
          <a:prstGeom prst="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773936"/>
            <a:ext cx="1645919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PVT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90672" y="2176272"/>
            <a:ext cx="1645919" cy="1435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Pivot / validation
Quality gate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892040" y="2670048"/>
            <a:ext cx="320039" cy="0"/>
          </a:xfrm>
          <a:prstGeom prst="line">
            <a:avLst/>
          </a:prstGeom>
          <a:ln w="25400">
            <a:solidFill>
              <a:srgbClr val="697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57800" y="1645920"/>
            <a:ext cx="1965960" cy="205740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7800" y="1645920"/>
            <a:ext cx="45720" cy="205740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1773936"/>
            <a:ext cx="1645919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SCD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22392" y="2176272"/>
            <a:ext cx="1645919" cy="1435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History management
SCD Type 2 MERGE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223760" y="2670048"/>
            <a:ext cx="320040" cy="0"/>
          </a:xfrm>
          <a:prstGeom prst="line">
            <a:avLst/>
          </a:prstGeom>
          <a:ln w="25400">
            <a:solidFill>
              <a:srgbClr val="697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89519" y="1645920"/>
            <a:ext cx="1965960" cy="205740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19" y="1645920"/>
            <a:ext cx="45720" cy="2057400"/>
          </a:xfrm>
          <a:prstGeom prst="rect">
            <a:avLst/>
          </a:prstGeom>
          <a:solidFill>
            <a:srgbClr val="3F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54111" y="1773936"/>
            <a:ext cx="1645919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ARCHIVE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54111" y="2176272"/>
            <a:ext cx="1645919" cy="1435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File lifecycle
Timestamped archive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9555480" y="2670048"/>
            <a:ext cx="320039" cy="0"/>
          </a:xfrm>
          <a:prstGeom prst="line">
            <a:avLst/>
          </a:prstGeom>
          <a:ln w="25400">
            <a:solidFill>
              <a:srgbClr val="697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21240" y="1645920"/>
            <a:ext cx="1965960" cy="205740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1645920"/>
            <a:ext cx="45720" cy="2057400"/>
          </a:xfrm>
          <a:prstGeom prst="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85832" y="1773936"/>
            <a:ext cx="1645919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VIEW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85832" y="2176272"/>
            <a:ext cx="1645919" cy="1435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Serving
Refresh BI views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4251960"/>
            <a:ext cx="5303520" cy="123444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251960"/>
            <a:ext cx="45720" cy="1234440"/>
          </a:xfrm>
          <a:prstGeom prst="rect">
            <a:avLst/>
          </a:prstGeom>
          <a:solidFill>
            <a:srgbClr val="F58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1" y="4379976"/>
            <a:ext cx="4983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Parallel path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4671" y="4966081"/>
            <a:ext cx="5158105" cy="245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CCD"/>
                </a:solidFill>
                <a:latin typeface="Aptos"/>
              </a:rPr>
              <a:t>PVT → REJ_ALERTS monitors quarantine while SCD continues with clean records.</a:t>
            </a:r>
            <a:endParaRPr sz="10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17920" y="4251960"/>
            <a:ext cx="5303520" cy="123444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251960"/>
            <a:ext cx="45720" cy="123444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4379976"/>
            <a:ext cx="4983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Downstream path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82512" y="4889246"/>
            <a:ext cx="4885690" cy="398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CCD"/>
                </a:solidFill>
                <a:latin typeface="Aptos"/>
              </a:rPr>
              <a:t>SCD → ARCHIVE and SCD → VIEW REFRESH run as independent downstream </a:t>
            </a:r>
            <a:endParaRPr sz="1000" b="0">
              <a:solidFill>
                <a:srgbClr val="AABCCD"/>
              </a:solidFill>
              <a:latin typeface="Aptos"/>
            </a:endParaRPr>
          </a:p>
          <a:p>
            <a:pPr algn="l"/>
            <a:r>
              <a:rPr sz="1000" b="0">
                <a:solidFill>
                  <a:srgbClr val="AABCCD"/>
                </a:solidFill>
                <a:latin typeface="Aptos"/>
              </a:rPr>
              <a:t>branches.</a:t>
            </a:r>
            <a:endParaRPr sz="10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ABCCD"/>
                </a:solidFill>
                <a:latin typeface="Aptos"/>
              </a:rPr>
              <a:t>NYC Employee Payroll • Databricks</a:t>
            </a:r>
            <a:endParaRPr sz="8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ABCCD"/>
                </a:solidFill>
                <a:latin typeface="Aptos"/>
              </a:rPr>
              <a:t>04</a:t>
            </a:r>
            <a:endParaRPr sz="800" b="1">
              <a:solidFill>
                <a:srgbClr val="AABC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B"/>
                </a:solidFill>
                <a:latin typeface="Aptos"/>
              </a:rPr>
              <a:t>Data quality &amp; rejection handling</a:t>
            </a:r>
            <a:endParaRPr sz="27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10424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CCD"/>
                </a:solidFill>
                <a:latin typeface="Aptos"/>
              </a:rPr>
              <a:t>Bad data is isolated, measured and surfaced.</a:t>
            </a:r>
            <a:endParaRPr sz="11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9319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37A4EB"/>
                </a:solidFill>
                <a:latin typeface="Aptos"/>
              </a:rPr>
              <a:t>05</a:t>
            </a:r>
            <a:endParaRPr sz="900" b="1">
              <a:solidFill>
                <a:srgbClr val="37A4E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822960" cy="4572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554480" cy="868680"/>
          </a:xfrm>
          <a:prstGeom prst="round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93976"/>
            <a:ext cx="140817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RAW CSV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" y="2423160"/>
            <a:ext cx="140817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Source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43200" y="1965960"/>
            <a:ext cx="1920240" cy="868680"/>
          </a:xfrm>
          <a:prstGeom prst="round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093976"/>
            <a:ext cx="177393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VALIDATE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16352" y="2423160"/>
            <a:ext cx="177393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Schema • nulls • rules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57800" y="1417320"/>
            <a:ext cx="2057400" cy="868680"/>
          </a:xfrm>
          <a:prstGeom prst="roundRect">
            <a:avLst/>
          </a:prstGeom>
          <a:solidFill>
            <a:srgbClr val="3F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1545336"/>
            <a:ext cx="19110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CLEAN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0952" y="1874519"/>
            <a:ext cx="1911095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stg_payroll_employee_nyc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57800" y="2743200"/>
            <a:ext cx="2057400" cy="868680"/>
          </a:xfrm>
          <a:prstGeom prst="roundRect">
            <a:avLst/>
          </a:prstGeom>
          <a:solidFill>
            <a:srgbClr val="F58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871216"/>
            <a:ext cx="19110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QUARANTINE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30952" y="3200400"/>
            <a:ext cx="1911095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payroll_quarantine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46720" y="2743200"/>
            <a:ext cx="2011680" cy="868680"/>
          </a:xfrm>
          <a:prstGeom prst="roundRect">
            <a:avLst/>
          </a:prstGeom>
          <a:solidFill>
            <a:srgbClr val="F58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2871216"/>
            <a:ext cx="186537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8FB"/>
                </a:solidFill>
                <a:latin typeface="Aptos"/>
              </a:rPr>
              <a:t>REJ_ALERTS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19872" y="3200400"/>
            <a:ext cx="186537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AABCCD"/>
                </a:solidFill>
                <a:latin typeface="Aptos"/>
              </a:rPr>
              <a:t>Threshold → notify</a:t>
            </a:r>
            <a:endParaRPr sz="900" b="0">
              <a:solidFill>
                <a:srgbClr val="AABCCD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2240280" y="2395728"/>
            <a:ext cx="502920" cy="0"/>
          </a:xfrm>
          <a:prstGeom prst="line">
            <a:avLst/>
          </a:prstGeom>
          <a:ln w="25400">
            <a:solidFill>
              <a:srgbClr val="37A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663440" y="1847088"/>
            <a:ext cx="594360" cy="548640"/>
          </a:xfrm>
          <a:prstGeom prst="line">
            <a:avLst/>
          </a:prstGeom>
          <a:ln w="25400">
            <a:solidFill>
              <a:srgbClr val="17B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2395728"/>
            <a:ext cx="594360" cy="786384"/>
          </a:xfrm>
          <a:prstGeom prst="line">
            <a:avLst/>
          </a:prstGeom>
          <a:ln w="25400">
            <a:solidFill>
              <a:srgbClr val="F58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0" y="3182112"/>
            <a:ext cx="731520" cy="0"/>
          </a:xfrm>
          <a:prstGeom prst="line">
            <a:avLst/>
          </a:prstGeom>
          <a:ln w="25400">
            <a:solidFill>
              <a:srgbClr val="F58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4343400"/>
            <a:ext cx="4846320" cy="132588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343400"/>
            <a:ext cx="45720" cy="1325880"/>
          </a:xfrm>
          <a:prstGeom prst="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471416"/>
            <a:ext cx="45262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Audit trail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392" y="5018786"/>
            <a:ext cx="4452620" cy="414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Run-level and step-level logs capture status, metrics, row counts, 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errors and traces.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852160" y="4343400"/>
            <a:ext cx="5394960" cy="132588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52160" y="4343400"/>
            <a:ext cx="45720" cy="132588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6752" y="4471416"/>
            <a:ext cx="5074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Operational benefit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16752" y="5018786"/>
            <a:ext cx="4868545" cy="414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Clean data keeps moving; rejected records remain visible and actionable 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without being silently dropped.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ABCCD"/>
                </a:solidFill>
                <a:latin typeface="Aptos"/>
              </a:rPr>
              <a:t>NYC Employee Payroll • Databricks</a:t>
            </a:r>
            <a:endParaRPr sz="8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ABCCD"/>
                </a:solidFill>
                <a:latin typeface="Aptos"/>
              </a:rPr>
              <a:t>05</a:t>
            </a:r>
            <a:endParaRPr sz="800" b="1">
              <a:solidFill>
                <a:srgbClr val="AABC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B"/>
                </a:solidFill>
                <a:latin typeface="Aptos"/>
              </a:rPr>
              <a:t>SCD Type 2 + historical traceability</a:t>
            </a:r>
            <a:endParaRPr sz="27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10424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CCD"/>
                </a:solidFill>
                <a:latin typeface="Aptos"/>
              </a:rPr>
              <a:t>Changes are preserved instead of overwritten.</a:t>
            </a:r>
            <a:endParaRPr sz="11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9319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37A4EB"/>
                </a:solidFill>
                <a:latin typeface="Aptos"/>
              </a:rPr>
              <a:t>06</a:t>
            </a:r>
            <a:endParaRPr sz="900" b="1">
              <a:solidFill>
                <a:srgbClr val="37A4E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822960" cy="4572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5F8FB"/>
                </a:solidFill>
                <a:latin typeface="Aptos"/>
              </a:rPr>
              <a:t>Employee history example</a:t>
            </a:r>
            <a:endParaRPr sz="16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2468880" cy="123444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331720"/>
            <a:ext cx="45720" cy="1234440"/>
          </a:xfrm>
          <a:prstGeom prst="rect">
            <a:avLst/>
          </a:prstGeom>
          <a:solidFill>
            <a:srgbClr val="69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59736"/>
            <a:ext cx="21488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Version 1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8992" y="2862072"/>
            <a:ext cx="2148840" cy="612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start_dt 2020-07-01
end_dt   2021-06-30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794760" y="2331720"/>
            <a:ext cx="2468880" cy="123444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94760" y="2331720"/>
            <a:ext cx="45720" cy="1234440"/>
          </a:xfrm>
          <a:prstGeom prst="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2459736"/>
            <a:ext cx="21488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Version 2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9352" y="2862072"/>
            <a:ext cx="2148840" cy="612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start_dt 2021-07-01
end_dt   2022-06-30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75120" y="2331720"/>
            <a:ext cx="2468880" cy="123444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2331720"/>
            <a:ext cx="45720" cy="123444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459736"/>
            <a:ext cx="21488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Version 3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39712" y="2862072"/>
            <a:ext cx="2148840" cy="612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start_dt 2022-07-01
end_dt   9999-12-31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83280" y="2926080"/>
            <a:ext cx="411480" cy="0"/>
          </a:xfrm>
          <a:prstGeom prst="line">
            <a:avLst/>
          </a:prstGeom>
          <a:ln w="25400">
            <a:solidFill>
              <a:srgbClr val="697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63640" y="2926080"/>
            <a:ext cx="411480" cy="0"/>
          </a:xfrm>
          <a:prstGeom prst="line">
            <a:avLst/>
          </a:prstGeom>
          <a:ln w="25400">
            <a:solidFill>
              <a:srgbClr val="697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55480" y="2331720"/>
            <a:ext cx="1828800" cy="123444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55480" y="2331720"/>
            <a:ext cx="45720" cy="123444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2459736"/>
            <a:ext cx="1508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Current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20072" y="2862072"/>
            <a:ext cx="1508760" cy="612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Active record
end_dt = 9999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5800" y="4343400"/>
            <a:ext cx="3429000" cy="128016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343400"/>
            <a:ext cx="45720" cy="128016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471416"/>
            <a:ext cx="3108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Gold target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392" y="4873752"/>
            <a:ext cx="3108960" cy="65836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payroll_employee_nyc
Curated SCD2 table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89120" y="4343400"/>
            <a:ext cx="3429000" cy="128016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4343400"/>
            <a:ext cx="45720" cy="1280160"/>
          </a:xfrm>
          <a:prstGeom prst="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4471416"/>
            <a:ext cx="3108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Backup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53712" y="4873752"/>
            <a:ext cx="3108960" cy="65836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hist_payroll_employee_nyc
Point-in-time history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092440" y="4343400"/>
            <a:ext cx="3429000" cy="128016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4343400"/>
            <a:ext cx="45720" cy="1280160"/>
          </a:xfrm>
          <a:prstGeom prst="rect">
            <a:avLst/>
          </a:prstGeom>
          <a:solidFill>
            <a:srgbClr val="F58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4471416"/>
            <a:ext cx="3108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Value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7031" y="4995926"/>
            <a:ext cx="2919095" cy="414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Auditable history for analytics, compliance</a:t>
            </a:r>
            <a:endParaRPr sz="1050" b="0">
              <a:solidFill>
                <a:srgbClr val="AABCCD"/>
              </a:solidFill>
              <a:latin typeface="Aptos"/>
            </a:endParaRPr>
          </a:p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and investigation.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ABCCD"/>
                </a:solidFill>
                <a:latin typeface="Aptos"/>
              </a:rPr>
              <a:t>NYC Employee Payroll • Databricks</a:t>
            </a:r>
            <a:endParaRPr sz="8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ABCCD"/>
                </a:solidFill>
                <a:latin typeface="Aptos"/>
              </a:rPr>
              <a:t>06</a:t>
            </a:r>
            <a:endParaRPr sz="800" b="1">
              <a:solidFill>
                <a:srgbClr val="AABC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B"/>
                </a:solidFill>
                <a:latin typeface="Aptos"/>
              </a:rPr>
              <a:t>Operations, governance &amp; maintainability</a:t>
            </a:r>
            <a:endParaRPr sz="27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10424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CCD"/>
                </a:solidFill>
                <a:latin typeface="Aptos"/>
              </a:rPr>
              <a:t>Designed to be supportable — not just runnable.</a:t>
            </a:r>
            <a:endParaRPr sz="11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9319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37A4EB"/>
                </a:solidFill>
                <a:latin typeface="Aptos"/>
              </a:rPr>
              <a:t>07</a:t>
            </a:r>
            <a:endParaRPr sz="900" b="1">
              <a:solidFill>
                <a:srgbClr val="37A4E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822960" cy="4572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91840" cy="164592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45720" cy="1645920"/>
          </a:xfrm>
          <a:prstGeom prst="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36776"/>
            <a:ext cx="2971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Git-backed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039112"/>
            <a:ext cx="2971800" cy="10241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Notebooks + SQL are version-controlled.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91840" cy="164592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45720" cy="164592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636776"/>
            <a:ext cx="2971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Unity Catalog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9431" y="2039112"/>
            <a:ext cx="2971800" cy="10241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Governed tables and volumes.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3291840" cy="164592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508760"/>
            <a:ext cx="45720" cy="1645920"/>
          </a:xfrm>
          <a:prstGeom prst="rect">
            <a:avLst/>
          </a:prstGeom>
          <a:solidFill>
            <a:srgbClr val="F58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36776"/>
            <a:ext cx="2971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Observability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2971800" cy="10241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Run and step audit evidence.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291840" cy="164592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03320"/>
            <a:ext cx="45720" cy="1645920"/>
          </a:xfrm>
          <a:prstGeom prst="rect">
            <a:avLst/>
          </a:prstGeom>
          <a:solidFill>
            <a:srgbClr val="E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831335"/>
            <a:ext cx="2971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Fail-fast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" y="4233672"/>
            <a:ext cx="2971800" cy="10241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Errors logged before raise.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20"/>
            <a:ext cx="3291840" cy="164592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703320"/>
            <a:ext cx="45720" cy="1645920"/>
          </a:xfrm>
          <a:prstGeom prst="rect">
            <a:avLst/>
          </a:prstGeom>
          <a:solidFill>
            <a:srgbClr val="3F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831335"/>
            <a:ext cx="2971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Idempotent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99431" y="4233672"/>
            <a:ext cx="2971800" cy="10241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Predictable reruns and control.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183879" y="3703320"/>
            <a:ext cx="3291840" cy="164592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703320"/>
            <a:ext cx="45720" cy="1645920"/>
          </a:xfrm>
          <a:prstGeom prst="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1" y="3831335"/>
            <a:ext cx="2971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BI-ready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48471" y="4233672"/>
            <a:ext cx="2971800" cy="10241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Curated SQL views for consumers.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ABCCD"/>
                </a:solidFill>
                <a:latin typeface="Aptos"/>
              </a:rPr>
              <a:t>NYC Employee Payroll • Databricks</a:t>
            </a:r>
            <a:endParaRPr sz="8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ABCCD"/>
                </a:solidFill>
                <a:latin typeface="Aptos"/>
              </a:rPr>
              <a:t>07</a:t>
            </a:r>
            <a:endParaRPr sz="800" b="1">
              <a:solidFill>
                <a:srgbClr val="AABC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B"/>
                </a:solidFill>
                <a:latin typeface="Aptos"/>
              </a:rPr>
              <a:t>Team discussion &amp; next steps</a:t>
            </a:r>
            <a:endParaRPr sz="27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10424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CCD"/>
                </a:solidFill>
                <a:latin typeface="Aptos"/>
              </a:rPr>
              <a:t>Use the meeting to agree what comes next.</a:t>
            </a:r>
            <a:endParaRPr sz="11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9319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37A4EB"/>
                </a:solidFill>
                <a:latin typeface="Aptos"/>
              </a:rPr>
              <a:t>08</a:t>
            </a:r>
            <a:endParaRPr sz="900" b="1">
              <a:solidFill>
                <a:srgbClr val="37A4E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822960" cy="45720"/>
          </a:xfrm>
          <a:prstGeom prst="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83280" cy="182880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45720" cy="1828800"/>
          </a:xfrm>
          <a:prstGeom prst="rect">
            <a:avLst/>
          </a:prstGeom>
          <a:solidFill>
            <a:srgbClr val="3F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36776"/>
            <a:ext cx="30632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What is working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039112"/>
            <a:ext cx="3063240" cy="12070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Clear dependencies
Quality gate + quarantine
SCD2 history
Auditability
Automated notifications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07408" y="1508760"/>
            <a:ext cx="3383280" cy="182880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508760"/>
            <a:ext cx="45720" cy="1828800"/>
          </a:xfrm>
          <a:prstGeom prst="rect">
            <a:avLst/>
          </a:prstGeom>
          <a:solidFill>
            <a:srgbClr val="F58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36776"/>
            <a:ext cx="30632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Decisions to discuss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3063240" cy="12070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More validation rules?
Alert threshold tuning?
More subscribers?
BI dashboard requirements?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383280" cy="1828800"/>
          </a:xfrm>
          <a:prstGeom prst="roundRect">
            <a:avLst/>
          </a:prstGeom>
          <a:solidFill>
            <a:srgbClr val="142C44"/>
          </a:solidFill>
          <a:ln>
            <a:solidFill>
              <a:srgbClr val="25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45720" cy="1828800"/>
          </a:xfrm>
          <a:prstGeom prst="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36776"/>
            <a:ext cx="30632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B"/>
                </a:solidFill>
                <a:latin typeface="Aptos"/>
              </a:rPr>
              <a:t>Potential evolution</a:t>
            </a:r>
            <a:endParaRPr sz="14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2752" y="2039112"/>
            <a:ext cx="3063240" cy="12070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AABCCD"/>
                </a:solidFill>
                <a:latin typeface="Aptos"/>
              </a:rPr>
              <a:t>Auto Loader / streaming
Schema evolution
More DQ metrics
Expanded downstream serving</a:t>
            </a:r>
            <a:endParaRPr sz="105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2377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5F8FB"/>
                </a:solidFill>
                <a:latin typeface="Aptos"/>
              </a:rPr>
              <a:t>Target operating model</a:t>
            </a:r>
            <a:endParaRPr sz="16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4526280"/>
            <a:ext cx="1417320" cy="384048"/>
          </a:xfrm>
          <a:prstGeom prst="round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81144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8FB"/>
                </a:solidFill>
                <a:latin typeface="Aptos"/>
              </a:rPr>
              <a:t>Ingest</a:t>
            </a:r>
            <a:endParaRPr sz="9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468880" y="4526280"/>
            <a:ext cx="1417320" cy="384048"/>
          </a:xfrm>
          <a:prstGeom prst="round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581144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8FB"/>
                </a:solidFill>
                <a:latin typeface="Aptos"/>
              </a:rPr>
              <a:t>Validate</a:t>
            </a:r>
            <a:endParaRPr sz="9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51960" y="4526280"/>
            <a:ext cx="1417320" cy="384048"/>
          </a:xfrm>
          <a:prstGeom prst="roundRect">
            <a:avLst/>
          </a:prstGeom>
          <a:solidFill>
            <a:srgbClr val="17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4581144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8FB"/>
                </a:solidFill>
                <a:latin typeface="Aptos"/>
              </a:rPr>
              <a:t>Curate</a:t>
            </a:r>
            <a:endParaRPr sz="9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035040" y="4526280"/>
            <a:ext cx="1417320" cy="384048"/>
          </a:xfrm>
          <a:prstGeom prst="roundRect">
            <a:avLst/>
          </a:prstGeom>
          <a:solidFill>
            <a:srgbClr val="3F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581144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8FB"/>
                </a:solidFill>
                <a:latin typeface="Aptos"/>
              </a:rPr>
              <a:t>Archive</a:t>
            </a:r>
            <a:endParaRPr sz="9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818120" y="4526280"/>
            <a:ext cx="1417320" cy="384048"/>
          </a:xfrm>
          <a:prstGeom prst="roundRect">
            <a:avLst/>
          </a:prstGeom>
          <a:solidFill>
            <a:srgbClr val="F58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4581144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8FB"/>
                </a:solidFill>
                <a:latin typeface="Aptos"/>
              </a:rPr>
              <a:t>Notify</a:t>
            </a:r>
            <a:endParaRPr sz="9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601200" y="4526280"/>
            <a:ext cx="1417320" cy="384048"/>
          </a:xfrm>
          <a:prstGeom prst="roundRect">
            <a:avLst/>
          </a:prstGeom>
          <a:solidFill>
            <a:srgbClr val="37A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4581144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8FB"/>
                </a:solidFill>
                <a:latin typeface="Aptos"/>
              </a:rPr>
              <a:t>Serve</a:t>
            </a:r>
            <a:endParaRPr sz="900" b="1">
              <a:solidFill>
                <a:srgbClr val="F5F8FB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ABCCD"/>
                </a:solidFill>
                <a:latin typeface="Aptos"/>
              </a:rPr>
              <a:t>NYC Employee Payroll • Databricks</a:t>
            </a:r>
            <a:endParaRPr sz="800" b="0">
              <a:solidFill>
                <a:srgbClr val="AABCCD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ABCCD"/>
                </a:solidFill>
                <a:latin typeface="Aptos"/>
              </a:rPr>
              <a:t>08</a:t>
            </a:r>
            <a:endParaRPr sz="800" b="1">
              <a:solidFill>
                <a:srgbClr val="AABC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Text Box 35"/>
          <p:cNvSpPr txBox="1"/>
          <p:nvPr/>
        </p:nvSpPr>
        <p:spPr>
          <a:xfrm>
            <a:off x="3187065" y="2767965"/>
            <a:ext cx="5057775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8000">
                <a:solidFill>
                  <a:srgbClr val="00B0F0"/>
                </a:solidFill>
                <a:sym typeface="+mn-ea"/>
              </a:rPr>
              <a:t>Thank You</a:t>
            </a:r>
            <a:endParaRPr lang="en-US" sz="8000">
              <a:solidFill>
                <a:srgbClr val="00B0F0"/>
              </a:solidFill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836930" y="6417945"/>
            <a:ext cx="18967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800">
                <a:solidFill>
                  <a:srgbClr val="AABCCD"/>
                </a:solidFill>
                <a:latin typeface="Aptos"/>
                <a:sym typeface="+mn-ea"/>
              </a:rPr>
              <a:t>NYC Employee Payroll • Databricks</a:t>
            </a:r>
            <a:endParaRPr sz="800" b="0">
              <a:solidFill>
                <a:srgbClr val="AABCCD"/>
              </a:solidFill>
              <a:latin typeface="Aptos"/>
            </a:endParaRPr>
          </a:p>
          <a:p>
            <a:endParaRPr lang="en-US" sz="800"/>
          </a:p>
        </p:txBody>
      </p:sp>
      <p:sp>
        <p:nvSpPr>
          <p:cNvPr id="41" name="Text Box 40"/>
          <p:cNvSpPr txBox="1"/>
          <p:nvPr/>
        </p:nvSpPr>
        <p:spPr>
          <a:xfrm>
            <a:off x="11209655" y="6564630"/>
            <a:ext cx="3238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chemeClr val="bg2"/>
                </a:solidFill>
              </a:rPr>
              <a:t>09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2" name="Text Box 41"/>
          <p:cNvSpPr txBox="1"/>
          <p:nvPr/>
        </p:nvSpPr>
        <p:spPr>
          <a:xfrm>
            <a:off x="11236325" y="278130"/>
            <a:ext cx="32385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000">
                <a:solidFill>
                  <a:srgbClr val="00B0F0"/>
                </a:solidFill>
              </a:rPr>
              <a:t>09</a:t>
            </a:r>
            <a:endParaRPr lang="en-US" sz="100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3889</Words>
  <Application>WPS Spreadsheets</Application>
  <PresentationFormat>On-screen Show (4:3)</PresentationFormat>
  <Paragraphs>317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Thonburi</vt:lpstr>
      <vt:lpstr>Calibri</vt:lpstr>
      <vt:lpstr>Helvetica Neue</vt:lpstr>
      <vt:lpstr>Microsoft YaHei</vt:lpstr>
      <vt:lpstr>汉仪旗黑</vt:lpstr>
      <vt:lpstr>Arial Unicode MS</vt:lpstr>
      <vt:lpstr>宋体-简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sharfulhaque</cp:lastModifiedBy>
  <cp:revision>2</cp:revision>
  <dcterms:created xsi:type="dcterms:W3CDTF">2026-09-28T20:33:07Z</dcterms:created>
  <dcterms:modified xsi:type="dcterms:W3CDTF">2026-09-28T20:33:07Z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1033-5.5.1.8075</vt:lpwstr>
  </property>
</Properties>
</file>